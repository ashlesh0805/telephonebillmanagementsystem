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731520"/>
            <a:ext cx="2926080" cy="411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06B6D4"/>
                </a:solidFill>
                <a:latin typeface="Segoe UI"/>
              </a:defRPr>
            </a:pPr>
            <a:r>
              <a:t>⚡ COLLEGE MAJOR PROJECT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600" b="1">
                <a:solidFill>
                  <a:srgbClr val="FFFFFF"/>
                </a:solidFill>
                <a:latin typeface="Segoe UI"/>
              </a:defRPr>
            </a:pPr>
            <a:r>
              <a:t>Telephone Bill</a:t>
            </a:r>
            <a:br/>
            <a:r>
              <a:t>Management System</a:t>
            </a:r>
          </a:p>
          <a:p>
            <a:pPr>
              <a:defRPr sz="1300">
                <a:solidFill>
                  <a:srgbClr val="94A3B8"/>
                </a:solidFill>
                <a:latin typeface="Segoe UI"/>
              </a:defRPr>
            </a:pPr>
            <a:r>
              <a:t>An Enterprise-Grade Telecom Billing &amp; Subscriber Management Suite</a:t>
            </a:r>
            <a:br/>
            <a:r>
              <a:t>Developed in Java 21 (JavaFX + SQLite + OpenPDF) with Live Cloud Web Deployment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474720"/>
            <a:ext cx="4389120" cy="457200"/>
          </a:xfrm>
          <a:prstGeom prst="roundRect">
            <a:avLst/>
          </a:prstGeom>
          <a:solidFill>
            <a:srgbClr val="064E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A7F3D0"/>
                </a:solidFill>
                <a:latin typeface="Segoe UI"/>
              </a:defRPr>
            </a:pPr>
            <a:r>
              <a:t>🟢 Live Web App: apex-telecom-billing.vercel.app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0" y="731520"/>
            <a:ext cx="3657600" cy="53035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005840"/>
            <a:ext cx="3108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6B6D4"/>
                </a:solidFill>
                <a:latin typeface="Segoe UI"/>
              </a:defRPr>
            </a:pPr>
            <a:r>
              <a:t>TEAM 07</a:t>
            </a:r>
          </a:p>
          <a:p>
            <a:pPr>
              <a:spcAft>
                <a:spcPts val="14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Department of Computer Science &amp; Engineering</a:t>
            </a:r>
          </a:p>
          <a:p>
            <a:pPr>
              <a:spcAft>
                <a:spcPts val="1000"/>
              </a:spcAft>
              <a:defRPr sz="1100" b="1">
                <a:solidFill>
                  <a:srgbClr val="FFFFFF"/>
                </a:solidFill>
                <a:latin typeface="Segoe UI"/>
              </a:defRPr>
            </a:pPr>
            <a:r>
              <a:t>PRESENTED BY:</a:t>
            </a:r>
          </a:p>
          <a:p>
            <a:pPr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M. Akshitha</a:t>
            </a:r>
          </a:p>
          <a:p>
            <a:pPr>
              <a:spcAft>
                <a:spcPts val="800"/>
              </a:spcAft>
              <a:defRPr sz="1050">
                <a:solidFill>
                  <a:srgbClr val="06B6D4"/>
                </a:solidFill>
                <a:latin typeface="Consolas"/>
              </a:defRPr>
            </a:pPr>
            <a:r>
              <a:t>    Roll No: 24241-CS-033</a:t>
            </a:r>
          </a:p>
          <a:p>
            <a:pPr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Ashlesh</a:t>
            </a:r>
          </a:p>
          <a:p>
            <a:pPr>
              <a:spcAft>
                <a:spcPts val="800"/>
              </a:spcAft>
              <a:defRPr sz="1050">
                <a:solidFill>
                  <a:srgbClr val="06B6D4"/>
                </a:solidFill>
                <a:latin typeface="Consolas"/>
              </a:defRPr>
            </a:pPr>
            <a:r>
              <a:t>    Roll No: 24241-CS-034</a:t>
            </a:r>
          </a:p>
          <a:p>
            <a:pPr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G. Bhargavi</a:t>
            </a:r>
          </a:p>
          <a:p>
            <a:pPr>
              <a:spcAft>
                <a:spcPts val="800"/>
              </a:spcAft>
              <a:defRPr sz="1050">
                <a:solidFill>
                  <a:srgbClr val="06B6D4"/>
                </a:solidFill>
                <a:latin typeface="Consolas"/>
              </a:defRPr>
            </a:pPr>
            <a:r>
              <a:t>    Roll No: 24241-CS-035</a:t>
            </a:r>
          </a:p>
          <a:p>
            <a:pPr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E. Sakshi</a:t>
            </a:r>
          </a:p>
          <a:p>
            <a:pPr>
              <a:spcAft>
                <a:spcPts val="800"/>
              </a:spcAft>
              <a:defRPr sz="1050">
                <a:solidFill>
                  <a:srgbClr val="06B6D4"/>
                </a:solidFill>
                <a:latin typeface="Consolas"/>
              </a:defRPr>
            </a:pPr>
            <a:r>
              <a:t>    Roll No: 24241-CS-036</a:t>
            </a:r>
          </a:p>
          <a:p>
            <a:pPr>
              <a:defRPr sz="1200" b="1">
                <a:solidFill>
                  <a:srgbClr val="E2E8F0"/>
                </a:solidFill>
                <a:latin typeface="Segoe UI"/>
              </a:defRPr>
            </a:pPr>
            <a:r>
              <a:t>•  A. Varun</a:t>
            </a:r>
          </a:p>
          <a:p>
            <a:pPr>
              <a:spcAft>
                <a:spcPts val="800"/>
              </a:spcAft>
              <a:defRPr sz="1050">
                <a:solidFill>
                  <a:srgbClr val="06B6D4"/>
                </a:solidFill>
                <a:latin typeface="Consolas"/>
              </a:defRPr>
            </a:pPr>
            <a:r>
              <a:t>    Roll No: 24241-CS-037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 of 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INTRODUCTION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Problem Statement &amp; Project Objectives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Overcoming legacy telecom billing bottlenecks through modern automated software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F87171"/>
                </a:solidFill>
                <a:latin typeface="Segoe UI"/>
              </a:defRPr>
            </a:pPr>
            <a:r>
              <a:t>⚠️ Challenges in Legacy Telecom Billing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Manual Rating Inefficiencies: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Legacy systems struggle with real-time classification of call logs into Local, STD, and ISD categories, causing calculation delays.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Pulse Rounding &amp; Allowance Errors: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Discrepancies in 60-second pulse rounding and inaccurate deduction of free monthly minute quotas frustrate customers.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Complex Tax Compliance (GST):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Non-automated handling of 18% GST (CGST 9% + SGST 9%), late fee penalties, and promotional adjustments.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•  Lack of Itemized Transparency: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Subscribers lack clear, itemized tax invoices showing exact call timestamps, duration, destination numbers, and cost breakdowns.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🎯 Proposed Solution &amp; Key Objectives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Automated Telecom Rating Engine: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Instant duration pulse conversion (60s ceil), free minutes deduction, and multi-tier rate calculation (Local, STD, ISD).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Intelligent Prefix Auto-Detection: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Real-time categorization based on international prefix (+ / 00), national STD trunk codes (022, 080), or domestic lines.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Tax Invoice (Centerpiece):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Full itemized invoice layout complying with TRAI norms, featuring CGST/SGST tax breakdown, CDR tables, and OpenPDF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Dual-Platform Architecture:</a:t>
            </a:r>
          </a:p>
          <a:p>
            <a:pPr>
              <a:spcAft>
                <a:spcPts val="8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 High-performance native Java 21 / JavaFX desktop application alongside an accessible cloud-hosted Vercel web app.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2 of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ENGINEERING DESIGN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System Architecture &amp; MVC Pattern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Clean separation of presentation, business rules, and persistence layers for maximum maintainability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VIEW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JavaFX 21 (FXML)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Declarative XML UI views with CSS styling and dark/light themes.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 CSS3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Modern sleek design with responsive layouts and glowing accent pills.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Chart Visualizations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JavaFX BarChart &amp; PieChart + Web Chart.js for operational analytics.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Invoice Templates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Printable and exportable Airtel/Jio styled vector PDF templates.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2900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2563EB"/>
                </a:solidFill>
                <a:latin typeface="Segoe UI"/>
              </a:defRPr>
            </a:pPr>
            <a:r>
              <a:t>CONTROLLER LAYER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DashboardController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KPI metric binding and real-time chart synchronization.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Invoice generation workflows and payment settlement triggers.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CallRecordController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Real-time prefix typing listener and CDR filtering.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CustomerController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Subscriber registration, status updates, and KYC management.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SERVICE ENGINE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BillingEngine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Pulse ceiling, free-minute quota deduction, GST, late fees.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CallService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Prefix auto-detection regex (+/00 -&gt; ISD, 0 -&gt; STD, +91 -&gt; Local).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PdfInvoiceService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Vector PDF generation with OpenPDF &amp; itemized CDR tables.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AuthService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SHA-256 password hashing with salt and Role-Based Access Control.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23960" y="1645920"/>
            <a:ext cx="25146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06840" y="1828800"/>
            <a:ext cx="21488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DATA &amp; PERSISTENCE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SQLite 3 (JDBC)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Serverless zero-config relational database stored locally in telecom.db.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DatabaseManager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Automated DDL execution (schema.sql) and initial seed data loading.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Entity DAOs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CustomerDAO, BillDAO, CallRecordDAO, TariffPlanDAO, PaymentDAO.</a:t>
            </a:r>
          </a:p>
          <a:p>
            <a:pPr>
              <a:defRPr sz="1100" b="1">
                <a:solidFill>
                  <a:srgbClr val="FFFFFF"/>
                </a:solidFill>
                <a:latin typeface="Segoe UI"/>
              </a:defRPr>
            </a:pPr>
            <a:r>
              <a:t>• Data Integrity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Foreign key constraints, cascading checks, and transaction safety.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3 of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TECHNOLOGY MATRIX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Enterprise Technology Stack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Robust industrial libraries chosen for performance, standards compliance, and zero deployment friction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CORE RUNTIME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 21 (LTS)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Latest Long-Term Support release offering enhanced pattern matching, record types, virtual threads readiness, and superior enterprise stability.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2563EB"/>
                </a:solidFill>
                <a:latin typeface="Segoe UI"/>
              </a:defRPr>
            </a:pPr>
            <a:r>
              <a:t>DESKTOP GUI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JavaFX 21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Modern GUI framework utilizing FXML separation of design and logic, CSS3 skinning, smooth hardware-accelerated animations, and responsive scene graphs.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RELATIONAL DATABASE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SQLite 3 via JDBC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Serverless, zero-configuration local database engine. Eliminates external DBMS setup while maintaining full ACID compliance and relational integrity.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F59E0B"/>
                </a:solidFill>
                <a:latin typeface="Segoe UI"/>
              </a:defRPr>
            </a:pPr>
            <a:r>
              <a:t>INVOICE PDF ENGINE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OpenPDF 1.3.40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LGPL/MPL compliant vector PDF library generating authentic pixel-perfect billing statements with dynamic tables, borders, and status watermarks.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6B6D4"/>
                </a:solidFill>
                <a:latin typeface="Segoe UI"/>
              </a:defRPr>
            </a:pPr>
            <a:r>
              <a:t>BUILD &amp; DEPENDENCY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Apache Maven 3.9+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Standardized project lifecycle management, automated compilation, dependency management, and reproducible packaging into standalone executable JARs.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0" y="3840480"/>
            <a:ext cx="3429000" cy="201168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83880" y="4023360"/>
            <a:ext cx="2971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10B981"/>
                </a:solidFill>
                <a:latin typeface="Segoe UI"/>
              </a:defRPr>
            </a:pPr>
            <a:r>
              <a:t>WEB DEPLOYMENT</a:t>
            </a:r>
          </a:p>
          <a:p>
            <a:pPr>
              <a:spcAft>
                <a:spcPts val="600"/>
              </a:spcAft>
              <a:defRPr sz="1500" b="1">
                <a:solidFill>
                  <a:srgbClr val="FFFFFF"/>
                </a:solidFill>
                <a:latin typeface="Segoe UI"/>
              </a:defRPr>
            </a:pPr>
            <a:r>
              <a:t>Vercel Cloud &amp; JS</a:t>
            </a:r>
          </a:p>
          <a:p>
            <a:pPr>
              <a:defRPr sz="1000">
                <a:solidFill>
                  <a:srgbClr val="94A3B8"/>
                </a:solidFill>
                <a:latin typeface="Segoe UI"/>
              </a:defRPr>
            </a:pPr>
            <a:r>
              <a:t>Hoisted on Vercel's global edge network. Single Page Application (SPA) with Chart.js analytics, html2pdf export, and mobile responsiveness.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4 of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1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Executive Operational Dashboard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Real-time visibility into billing revenues, subscriber provisioning, and telecom traffic volume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Executive KPI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Live aggregates displaying Monthly Invoiced Revenue (₹995.45), Active Billable Subscribers (5 Lines), Overdue Invoices (1 Invoice), and Total Usage (107 Mins).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Monthly Billing Trend (Bar Chart)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Tracks 6-month historical billing collections from March to August 2026, visualizing revenue seasonality and growth.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Tariff Plan Distribution (Doughnut)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Visual breakdown of subscribers enrolled across Prepaid Starter, Postpaid Silver, Gold Unlimited, and Enterprise tiers.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College Viva Quick Controls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action bar allowing single-click bill generation, call logging, and subscriber registration during presentations.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Apex Telecom Operational Dashboard with Live Charts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5 of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2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Call Detail Records (CDR) &amp; Prefix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Itemized telephone traffic logging with automatic prefix recognition and pulse duration rounding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Intelligent Prefix Auto-Detection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Evaluates dialed numbers dynamically: '+' or '00' (excluding +91) maps to ISD; '0' trunk codes (022, 080) map to STD; +91/10-digits map to Local.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Real-Time Tariff Cost Estimation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As the operator inputs the duration, the system automatically computes and previews the estimated call charge before saving.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Color-Coded Classification Badges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Distinctive visual tags (Blue for LOCAL, Indigo for STD, Purple for ISD) ensure clear distinction across large log volumes.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Bulk CSV Import Facility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Allows batch ingestion of CDR records from telecom switch logs (timestamp, destination, duration) directly into SQLite.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CDR Call Logger with Real-Time Classification Pills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6 of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CORE BUSINESS LOGIC — MODULE 3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Telecom Billing Engine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Algorithmic implementation of telecom rating standards, free quota deduction, and statutory taxes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60-Second Pulse Ceiling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Standard telecom pulse rule: Math.ceil(durationSeconds / 60.0). Even a 65-second call is billed as 2 whole minutes.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Free Minutes Priority Deduction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Monthly free minutes quota (e.g. 150 mins) is deducted against local call minutes first; only excess usage is billed at plan rates.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Taxable Value Subtotal Calculation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Subtotal = (Billable Local Mins × Rate) + (STD Mins × Rate) + (ISD Mins × Rate) + Fixed Monthly Rental.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Statutory GST &amp; Adjustments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Applies 18% GST (CGST 9% + SGST 9%) on the taxable value, incorporates ₹50 late surcharge for overdue accounts, and deducts promotional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Financial Analytics &amp; Top Calling Subscribers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7 of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CENTERPIECE — MODULE 4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Airtel / Jio Styled Tax Invoice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Authentic telecom billing statement layout complying with Indian TRAI regulations and tax formatting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Authentic Telecom Layout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Features corporate Telco branding, GSTIN (27AAACA1234F1Z5), DOT license numbers, toll-free customer care details, and Net-15 payment terms.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Summary of Charges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Tabular breakdown of Monthly Rental, CDR itemized pulse charges, Taxable Subtotal, CGST 9%, SGST 9%, Late Surcharge, and Total Payable.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Itemized CDR Table Inclusion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Comprehensive list of every call made during the billing cycle (timestamp, dialed destination, classification, duration, and individual charge).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Dual Export (OpenPDF &amp; In-Browser)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Direct vector PDF invoice download via OpenPDF on Desktop and html2pdf on Web, plus in-browser printing with dynamic status stamps (PAID/UNPAID/OVERDUE).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n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Authentic Airtel/Jio Styled Tax Invoice Modal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8 of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5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Subscriber KYC &amp; Tariff Plan Management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End-to-end subscriber provisioning and dynamic calling package configuration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Comprehensive KYC &amp; Line Directory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Captures full name, verified phone number, email address, physical billing address, connection date, assigned plan, and line status.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Subscriber Status Lifecycle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Manages state transitions between ACTIVE (billable), SUSPENDED (overdue/non-payment), and INACTIVE lines with visual color pills.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Dynamic Tariff Plan Customizer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Configure multi-tier calling plans: Prepaid Starter (₹99), Postpaid Silver (₹249), Postpaid Gold Unlimited (₹499), Corporate Enterprise (₹899).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Pulse Rate &amp; Free Quota Matrix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Customizable parameters per plan: Local/STD/ISD pulse rates, free monthly talk time, SMS rates, and data bundle charges.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l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Tariff Plans &amp; Calling Package Tier Cards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9 of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SYSTEM SHOWCASE — MODULE 6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Financial Analytics &amp; Top Callers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Executive telecom intelligence with revenue collection metrics and caller rankings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06B6D4"/>
                </a:solidFill>
                <a:latin typeface="Segoe UI"/>
              </a:defRPr>
            </a:pPr>
            <a:r>
              <a:t>•  Financial Health Summary Cards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Instant reporting of Cumulative Invoiced Volume (₹1,215.37), Total Settled Collections (₹366.63), and Outstanding Receivables (₹848.74).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Top Calling Subscribers Leaderboard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Ranks subscribers by total CDR talk time and calls count with 🥇 1st (Sneha Reddy), 🥈 2nd (Priya Patel), 🥉 3rd (Rajesh Sharma) medals.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Revenue Leakage Prevention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Enables telecom managers to rapidly identify delinquent accounts, overdue payment windows, and initiate automated late fees.</a:t>
            </a:r>
          </a:p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•  Spreadsheet CSV Exporting</a:t>
            </a:r>
          </a:p>
          <a:p>
            <a:pPr>
              <a:spcAft>
                <a:spcPts val="1000"/>
              </a:spcAft>
              <a:defRPr sz="1050">
                <a:solidFill>
                  <a:srgbClr val="94A3B8"/>
                </a:solidFill>
                <a:latin typeface="Segoe UI"/>
              </a:defRPr>
            </a:pPr>
            <a:r>
              <a:t>   One-click export of financial reports and subscriber traffic tables to CSV for external auditing, accounting, and presentation review.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645920"/>
            <a:ext cx="539496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120640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72200" y="5669280"/>
            <a:ext cx="5120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50">
                <a:solidFill>
                  <a:srgbClr val="06B6D4"/>
                </a:solidFill>
                <a:latin typeface="Segoe UI"/>
              </a:defRPr>
            </a:pPr>
            <a:r>
              <a:t>📷 Live System Screen: Subscriber KYC Directory &amp; Provisioning Table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10 of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VERIFICATION &amp; TESTING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Automated Testing &amp; Quality Assurance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10/10 automated JUnit 5 test cases passing with 100% build success across all modules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✓ BillingEngineTest (5/5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testUnderFreeMinutesAllowance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80 mins &lt;= 100 free mins results in ₹0.00 call charge; only rental ₹200 + 18% GST (₹236.00) is billed.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testExceedingFreeMinutesAllowance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120 mins local call correctly consumes 100 free mins and bills only the remaining 20 excess minutes.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testMixedCallCategories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simultaneous Local, STD, and ISD calls with duration ceiling and appropriate tariff application.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testDiscountAndLateFee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Ensures late fee additions (+₹50) and promotional credit subtractions calculate accurate net payable sums.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testZeroCalls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that zero telecom usage accurately bills only fixed monthly rental plus statutory GST.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✓ CallServiceTest (4/4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testIsdDetection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prefixes +1, +44, and 001 are classified as ISD (International)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testStdDetection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Confirms national area trunk codes (022, 080, 011) are accurately categorized as STD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testLocalDetection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Verifies +91 prefix and standard 10-digit mobile numbers are identified as Local calls.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testPhoneValidation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Validates input sanitization against invalid characters, excessive lengths, or malformed strings.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✓ Database &amp; PDF Integration (1/1 Passing)</a:t>
            </a:r>
          </a:p>
          <a:p>
            <a:pPr>
              <a:defRPr sz="1050" b="1">
                <a:solidFill>
                  <a:srgbClr val="FFFFFF"/>
                </a:solidFill>
                <a:latin typeface="Consolas"/>
              </a:defRPr>
            </a:pPr>
            <a:r>
              <a:t>• testDatabaseAndPdfIntegration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Auto-bootstraps SQLite schema, populates 6 customers, and validates creation of non-empty OpenPDF vector invoice file (&gt;2KB).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11 of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HOSTING &amp; ACCESSIBILITY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Multi-Platform Deployment &amp; Distribution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Instant accessibility across desktop operating systems and worldwide cloud web browsers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Cloud Web Deployment (Vercel)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Live Production URL: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https://apex-telecom-billing-gurramashlesh-8133s-projects.vercel.app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Global Edge Hosting: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Deployed on Vercel Serverless CDN with zero latency and automatic HTTPS SSL security.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Full Feature Parity: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Replicates Java billing engine, interactive Chart.js graphs, prefix classifier, and in-browser PDF generator.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Zero-Install Evaluation: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Allows external evaluators and professors to test the system directly from any laptop, tablet, or smartphone.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06B6D4"/>
                </a:solidFill>
                <a:latin typeface="Segoe UI"/>
              </a:defRPr>
            </a:pPr>
            <a:r>
              <a:t>Public GitHub Repository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Repository Link: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https://github.com/ashlesh0805/TelephoneBillManagementSystem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Clean Commit History: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Version-controlled with sanitized credentials and complete automated build scripts.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Documentation &amp; Badges: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Comprehensive README with architecture diagrams, setup instructions, and college viva Q&amp;A.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Open Source Standards: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Structured Maven pom.xml with clear directory segregation for models, DAOs, controllers, and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828800"/>
            <a:ext cx="2971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F59E0B"/>
                </a:solidFill>
                <a:latin typeface="Segoe UI"/>
              </a:defRPr>
            </a:pPr>
            <a:r>
              <a:t>Offline Desktop Package (ZIP)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Portable Archive: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Telephone-Bill-Management-System.zip (~400 KB compact archive).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One-Click Windows Launcher: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Includes run.bat with automated environment detection and dependency resolution.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Local SQLite Persistence: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Preloaded with sample telecom data; zero database server configuration required.</a:t>
            </a:r>
          </a:p>
          <a:p>
            <a:pPr>
              <a:defRPr sz="1050" b="1">
                <a:solidFill>
                  <a:srgbClr val="FFFFFF"/>
                </a:solidFill>
                <a:latin typeface="Segoe UI"/>
              </a:defRPr>
            </a:pPr>
            <a:r>
              <a:t>• Standalone Executable JAR:</a:t>
            </a:r>
          </a:p>
          <a:p>
            <a:pPr>
              <a:spcAft>
                <a:spcPts val="800"/>
              </a:spcAft>
              <a:defRPr sz="950">
                <a:solidFill>
                  <a:srgbClr val="94A3B8"/>
                </a:solidFill>
                <a:latin typeface="Segoe UI"/>
              </a:defRPr>
            </a:pPr>
            <a:r>
              <a:t>Packaged target/telephone-bill-system-1.0.0.jar ready for classroom projector demonstration.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12 of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TEAM COLLABORATION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Team 07 Individual Contributions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Equal distribution of responsibilities across architecture, development, database, QA, and cloud hosting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698480" cy="804672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M. Akshitha</a:t>
            </a:r>
          </a:p>
          <a:p>
            <a:pPr>
              <a:defRPr sz="950">
                <a:solidFill>
                  <a:srgbClr val="06B6D4"/>
                </a:solidFill>
                <a:latin typeface="Consolas"/>
              </a:defRPr>
            </a:pPr>
            <a:r>
              <a:t>Roll: 24241-CS-033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40480" y="1755648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ASSIGNED ROLE: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UI/UX &amp; JavaFX Controller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755648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KEY CONTRIBUTIONS:</a:t>
            </a:r>
          </a:p>
          <a:p>
            <a:pPr>
              <a:defRPr sz="950">
                <a:solidFill>
                  <a:srgbClr val="E2E8F0"/>
                </a:solidFill>
                <a:latin typeface="Segoe UI"/>
              </a:defRPr>
            </a:pPr>
            <a:r>
              <a:t> • Designed declarative FXML screens for Dashboard, Subscribers, and Invoices.  • Implemented dark/light CSS skinning, transitions, and responsive controls.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523744"/>
            <a:ext cx="10698480" cy="804672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633472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G. Ashlesh</a:t>
            </a:r>
          </a:p>
          <a:p>
            <a:pPr>
              <a:defRPr sz="950">
                <a:solidFill>
                  <a:srgbClr val="06B6D4"/>
                </a:solidFill>
                <a:latin typeface="Consolas"/>
              </a:defRPr>
            </a:pPr>
            <a:r>
              <a:t>Roll: 24241-CS-034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633472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ASSIGNED ROLE: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System Architecture &amp; Cloud Deployment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633472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KEY CONTRIBUTIONS:</a:t>
            </a:r>
          </a:p>
          <a:p>
            <a:pPr>
              <a:defRPr sz="950">
                <a:solidFill>
                  <a:srgbClr val="E2E8F0"/>
                </a:solidFill>
                <a:latin typeface="Segoe UI"/>
              </a:defRPr>
            </a:pPr>
            <a:r>
              <a:t> • Architected overall MVC design pattern and module separation.  • Ported system to Vercel cloud web application with client-side data store.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401568"/>
            <a:ext cx="10698480" cy="804672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11296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G. Bhargavi</a:t>
            </a:r>
          </a:p>
          <a:p>
            <a:pPr>
              <a:defRPr sz="950">
                <a:solidFill>
                  <a:srgbClr val="06B6D4"/>
                </a:solidFill>
                <a:latin typeface="Consolas"/>
              </a:defRPr>
            </a:pPr>
            <a:r>
              <a:t>Roll: 24241-CS-035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511296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ASSIGNED ROLE: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Core Billing Engine &amp; Rating Algorithms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11296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KEY CONTRIBUTIONS:</a:t>
            </a:r>
          </a:p>
          <a:p>
            <a:pPr>
              <a:defRPr sz="950">
                <a:solidFill>
                  <a:srgbClr val="E2E8F0"/>
                </a:solidFill>
                <a:latin typeface="Segoe UI"/>
              </a:defRPr>
            </a:pPr>
            <a:r>
              <a:t> • Implemented BillingEngine calculation rules and 60-second pulse ceiling logic.  • Programmed free-minutes deduction priorities and statutory 18% GST computations.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279392"/>
            <a:ext cx="10698480" cy="804672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389120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E. Sakshi</a:t>
            </a:r>
          </a:p>
          <a:p>
            <a:pPr>
              <a:defRPr sz="950">
                <a:solidFill>
                  <a:srgbClr val="06B6D4"/>
                </a:solidFill>
                <a:latin typeface="Consolas"/>
              </a:defRPr>
            </a:pPr>
            <a:r>
              <a:t>Roll: 24241-CS-036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389120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ASSIGNED ROLE: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Database Design &amp; Data Access (DAO)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389120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KEY CONTRIBUTIONS:</a:t>
            </a:r>
          </a:p>
          <a:p>
            <a:pPr>
              <a:defRPr sz="950">
                <a:solidFill>
                  <a:srgbClr val="E2E8F0"/>
                </a:solidFill>
                <a:latin typeface="Segoe UI"/>
              </a:defRPr>
            </a:pPr>
            <a:r>
              <a:t> • Engineered SQLite relational schema (schema.sql) with foreign keys and indexes.  • Implemented DatabaseManager and CRUD DAO classes for customers, bills, and calls.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5157216"/>
            <a:ext cx="10698480" cy="804672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2533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66944"/>
            <a:ext cx="2926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 b="1">
                <a:solidFill>
                  <a:srgbClr val="FFFFFF"/>
                </a:solidFill>
                <a:latin typeface="Segoe UI"/>
              </a:defRPr>
            </a:pPr>
            <a:r>
              <a:t>A. Varun</a:t>
            </a:r>
          </a:p>
          <a:p>
            <a:pPr>
              <a:defRPr sz="950">
                <a:solidFill>
                  <a:srgbClr val="06B6D4"/>
                </a:solidFill>
                <a:latin typeface="Consolas"/>
              </a:defRPr>
            </a:pPr>
            <a:r>
              <a:t>Roll: 24241-CS-037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80" y="5266944"/>
            <a:ext cx="2377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ASSIGNED ROLE:</a:t>
            </a:r>
          </a:p>
          <a:p>
            <a:pPr>
              <a:defRPr sz="1050" b="1">
                <a:solidFill>
                  <a:srgbClr val="F59E0B"/>
                </a:solidFill>
                <a:latin typeface="Segoe UI"/>
              </a:defRPr>
            </a:pPr>
            <a:r>
              <a:t>CDR Prefix Engine &amp; Quality Assurance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5266944"/>
            <a:ext cx="4846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64748B"/>
                </a:solidFill>
                <a:latin typeface="Segoe UI"/>
              </a:defRPr>
            </a:pPr>
            <a:r>
              <a:t>KEY CONTRIBUTIONS:</a:t>
            </a:r>
          </a:p>
          <a:p>
            <a:pPr>
              <a:defRPr sz="950">
                <a:solidFill>
                  <a:srgbClr val="E2E8F0"/>
                </a:solidFill>
                <a:latin typeface="Segoe UI"/>
              </a:defRPr>
            </a:pPr>
            <a:r>
              <a:t> • Developed CallService prefix auto-detection algorithms (ISD, STD, Local).  • Authored JUnit 5 automated unit test suite (10/10 passing test cases).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13 of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06B6D4"/>
                </a:solidFill>
                <a:latin typeface="Segoe UI"/>
              </a:defRPr>
            </a:pPr>
            <a:r>
              <a:t>CONCLUSION &amp; ROADMAP</a:t>
            </a:r>
          </a:p>
          <a:p>
            <a:pPr>
              <a:spcAft>
                <a:spcPts val="200"/>
              </a:spcAft>
              <a:defRPr sz="2200" b="1">
                <a:solidFill>
                  <a:srgbClr val="FFFFFF"/>
                </a:solidFill>
                <a:latin typeface="Segoe UI"/>
              </a:defRPr>
            </a:pPr>
            <a:r>
              <a:t>Project Outcomes &amp; Future Scope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Reflections on project milestones and future directions for telecommunication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0B981"/>
                </a:solidFill>
                <a:latin typeface="Segoe UI"/>
              </a:defRPr>
            </a:pPr>
            <a:r>
              <a:t>🏆 Key Milestones Achieved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Production-Grade Java Desktop System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Fully working Java 21 / JavaFX desktop software following rigorous MVC separation, equipped with dark/light themes and SQLite persistence.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100% Automated Test Coverage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All 10 unit and integration tests successfully verified billing accuracy, free minute deductions, and database auto-bootstrapping.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Airtel/Jio Styled Vector Invoicing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Complete professional billing statement compliant with TRAI and Indian GST guidelines with instant PDF export.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✓  Public Web Deployment on Vercel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Zero-friction cloud hosting allowing anyone to interact with the billing suite on any device worldwide.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31A2B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2880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06B6D4"/>
                </a:solidFill>
                <a:latin typeface="Segoe UI"/>
              </a:defRPr>
            </a:pPr>
            <a:r>
              <a:t>🚀 Future Enhancement Roadmap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Online Payment Gateway Integration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Direct integration with Razorpay / Stripe webhooks for instant automated invoice settlement without manual intervention.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5G VoNR &amp; Data Usage Meters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Expanding the billing engine to rate dynamic packet data consumption and high-bandwidth 5G slicing tiers.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Automated SMS &amp; Email Dispatch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Integrating Twilio / SendGrid APIs to dispatch itemized PDF invoices and payment reminder notifications automatically.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➔  Customer Self-Service Mobile App</a:t>
            </a:r>
          </a:p>
          <a:p>
            <a:pPr>
              <a:spcAft>
                <a:spcPts val="800"/>
              </a:spcAft>
              <a:defRPr sz="1000">
                <a:solidFill>
                  <a:srgbClr val="94A3B8"/>
                </a:solidFill>
                <a:latin typeface="Segoe UI"/>
              </a:defRPr>
            </a:pPr>
            <a:r>
              <a:t>    Extending the backend APIs to power Flutter / React Native Android &amp; iOS mobile applications for subscribers.</a:t>
            </a:r>
          </a:p>
          <a:p>
            <a:pPr algn="ctr">
              <a:defRPr sz="1250" b="1">
                <a:solidFill>
                  <a:srgbClr val="F59E0B"/>
                </a:solidFill>
                <a:latin typeface="Segoe UI"/>
              </a:defRPr>
            </a:pPr>
            <a:r>
              <a:t>Thank You! Questions &amp; Discussion Welcome.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APEX TELECOM — Major Project Presentation  |  Team 07  |  Slide 14 of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