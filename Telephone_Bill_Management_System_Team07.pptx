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115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0AAFD9-8371-437A-9ED5-B84FA88B5806}" type="datetimeFigureOut">
              <a:rPr lang="en-IN" smtClean="0"/>
              <a:t>14-09-2026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6E626C-B6B7-46B9-909E-024DE191AA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5186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6E626C-B6B7-46B9-909E-024DE191AA77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46078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731520"/>
            <a:ext cx="3108960" cy="4114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D4ED8"/>
                </a:solidFill>
                <a:latin typeface="Segoe UI"/>
              </a:defRPr>
            </a:pPr>
            <a:r>
              <a:t>⚡ COLLEGE MAJOR PROJECT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6766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0F172A"/>
                </a:solidFill>
                <a:latin typeface="Segoe UI"/>
              </a:defRPr>
            </a:pPr>
            <a:r>
              <a:t>Telephone Bill</a:t>
            </a:r>
            <a:br/>
            <a:r>
              <a:t>Management System</a:t>
            </a:r>
          </a:p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An Enterprise-Grade Telecom Billing &amp; Subscriber Management Suite</a:t>
            </a:r>
            <a:br/>
            <a:r>
              <a:t>Engineered in Java 21 (JavaFX + SQLite + OpenPDF) with Live Cloud Web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66160"/>
            <a:ext cx="4572000" cy="438912"/>
          </a:xfrm>
          <a:prstGeom prst="roundRect">
            <a:avLst/>
          </a:prstGeom>
          <a:solidFill>
            <a:srgbClr val="ECFDF5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7A57"/>
                </a:solidFill>
                <a:latin typeface="Segoe UI"/>
              </a:defRPr>
            </a:pPr>
            <a:r>
              <a:t>🟢 Live Web App: apex-telecom-billing.vercel.app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60520"/>
            <a:ext cx="4572000" cy="43891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D4ED8"/>
                </a:solidFill>
                <a:latin typeface="Segoe UI"/>
              </a:defRPr>
            </a:pPr>
            <a:r>
              <a:t>📂 GitHub: github.com/ashlesh0805/TelephoneBillManagementSystem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685800"/>
            <a:ext cx="3840480" cy="5257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868680"/>
            <a:ext cx="33832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D4ED8"/>
                </a:solidFill>
                <a:latin typeface="Segoe UI"/>
              </a:defRPr>
            </a:pPr>
            <a:r>
              <a:t>TEAM 07</a:t>
            </a:r>
          </a:p>
          <a:p>
            <a:pPr>
              <a:spcAft>
                <a:spcPts val="400"/>
              </a:spcAft>
              <a:defRPr sz="950">
                <a:solidFill>
                  <a:srgbClr val="64748B"/>
                </a:solidFill>
                <a:latin typeface="Segoe UI"/>
              </a:defRPr>
            </a:pPr>
            <a:r>
              <a:t>Department of Computer Science &amp; Engineering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Presented by: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874519"/>
            <a:ext cx="338328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7955279" y="2002535"/>
            <a:ext cx="365760" cy="36576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D4ED8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1947671"/>
            <a:ext cx="16459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M. Akshitha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B.Tech CSE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66960" y="2020823"/>
            <a:ext cx="1143000" cy="32918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D4ED8"/>
                </a:solidFill>
                <a:latin typeface="Consolas"/>
              </a:defRPr>
            </a:pPr>
            <a:r>
              <a:t>24241-CS-033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2606039"/>
            <a:ext cx="338328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955279" y="2734055"/>
            <a:ext cx="365760" cy="36576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D4ED8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679191"/>
            <a:ext cx="16459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G. Ashlesh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B.Tech CSE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66960" y="2752343"/>
            <a:ext cx="1143000" cy="32918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D4ED8"/>
                </a:solidFill>
                <a:latin typeface="Consolas"/>
              </a:defRPr>
            </a:pPr>
            <a:r>
              <a:t>24241-CS-034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3337559"/>
            <a:ext cx="338328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955279" y="3465575"/>
            <a:ext cx="365760" cy="36576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D4ED8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410711"/>
            <a:ext cx="16459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G. Bhargavi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B.Tech CSE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66960" y="3483863"/>
            <a:ext cx="1143000" cy="32918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D4ED8"/>
                </a:solidFill>
                <a:latin typeface="Consolas"/>
              </a:defRPr>
            </a:pPr>
            <a:r>
              <a:t>24241-CS-035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4069079"/>
            <a:ext cx="338328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955279" y="4197095"/>
            <a:ext cx="365760" cy="36576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D4ED8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142231"/>
            <a:ext cx="16459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E. Sakshi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B.Tech CSE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66960" y="4215383"/>
            <a:ext cx="1143000" cy="32918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D4ED8"/>
                </a:solidFill>
                <a:latin typeface="Consolas"/>
              </a:defRPr>
            </a:pPr>
            <a:r>
              <a:t>24241-CS-036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4800599"/>
            <a:ext cx="338328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955279" y="4928615"/>
            <a:ext cx="365760" cy="36576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D4ED8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1"/>
            <a:ext cx="16459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A. Varun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B.Tech CSE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66960" y="4946903"/>
            <a:ext cx="1143000" cy="32918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D4ED8"/>
                </a:solidFill>
                <a:latin typeface="Consolas"/>
              </a:defRPr>
            </a:pPr>
            <a:r>
              <a:t>24241-CS-037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 of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INTRODUCTION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Problem Statement &amp; Project Objectives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Overcoming legacy telecom billing bottlenecks through modern automated software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5212080" cy="45262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90600" y="2335504"/>
            <a:ext cx="4754880" cy="4197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450" b="1">
                <a:solidFill>
                  <a:srgbClr val="B91C1C"/>
                </a:solidFill>
                <a:latin typeface="Segoe UI"/>
              </a:defRPr>
            </a:pPr>
            <a:r>
              <a:rPr dirty="0"/>
              <a:t>⚠️ Challenges in Legacy Telecom Billing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rPr dirty="0"/>
              <a:t>•  Manual Rating Inefficiencies: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rPr dirty="0"/>
              <a:t>   Legacy systems struggle with real-time classification of call logs into Local, STD, and ISD categories, causing calculation delays.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rPr dirty="0"/>
              <a:t>•  Pulse Rounding &amp; Allowance Errors: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rPr dirty="0"/>
              <a:t>   Discrepancies in 60-second pulse rounding and inaccurate deduction of free monthly minute quotas frustrate customers.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rPr dirty="0"/>
              <a:t>•  Complex Tax Compliance (GST):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rPr dirty="0"/>
              <a:t>   Non-automated handling of 18% GST (CGST 9% + SGST 9%), late fee penalties, and promotional adjustments.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rPr dirty="0"/>
              <a:t>•  Lack of Itemized Transparency: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rPr dirty="0"/>
              <a:t>   Subscribers lack clear, itemized tax invoices showing exact call timestamps, duration, destination numbers, and cost breakdowns.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08760"/>
            <a:ext cx="5212080" cy="45262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34543" y="2335504"/>
            <a:ext cx="4754880" cy="4197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450" b="1">
                <a:solidFill>
                  <a:srgbClr val="107A57"/>
                </a:solidFill>
                <a:latin typeface="Segoe UI"/>
              </a:defRPr>
            </a:pPr>
            <a:r>
              <a:t>🎯 Proposed Solution &amp; Key Objectives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t>✓  Automated Telecom Rating Engine: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   Instant duration pulse conversion (60s ceil), free minutes deduction, and multi-tier rate calculation (Local, STD, ISD).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t>✓  Intelligent Prefix Auto-Detection: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   Real-time categorization based on international prefix (+ / 00), national STD trunk codes (022, 080), or domestic lines.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t>✓  Airtel/Jio Styled Tax Invoice (Centerpiece):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   Full itemized invoice layout complying with TRAI norms, featuring CGST/SGST tax breakdown, CDR tables, and OpenPDF export.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t>✓  Dual-Platform Architecture: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   High-performance native Java 21 / JavaFX desktop application alongside an accessible cloud-hosted Vercel web app.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2 of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ENGINEERING DESIGN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System Architecture &amp; MVC Pattern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Clean separation of presentation, business rules, and persistence layers for maximum maintainability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2542032" cy="45262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6112" y="1673352"/>
            <a:ext cx="2212848" cy="4197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E7490"/>
                </a:solidFill>
                <a:latin typeface="Segoe UI"/>
              </a:defRPr>
            </a:pPr>
            <a:r>
              <a:t>VIEW LAYER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JavaFX 21 (FXML)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Declarative XML UI views with CSS styling and clean desktop ergonomics.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Custom CSS3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Modern sleek design with responsive layouts and accessible contrast.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Chart Visualizations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JavaFX BarChart &amp; PieChart + Web Chart.js for operational analytics.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Invoice Templates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Printable and exportable Airtel/Jio styled vector PDF templates.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508760"/>
            <a:ext cx="2542032" cy="45262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21024" y="1673352"/>
            <a:ext cx="2212848" cy="4197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1D4ED8"/>
                </a:solidFill>
                <a:latin typeface="Segoe UI"/>
              </a:defRPr>
            </a:pPr>
            <a:r>
              <a:t>CONTROLLER LAYER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DashboardController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KPI metric binding and real-time chart synchronization.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BillController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Invoice generation workflows and payment settlement triggers.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CallRecordController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Real-time prefix typing listener and CDR filtering.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CustomerController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Subscriber registration, status updates, and KYC management.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508760"/>
            <a:ext cx="2542032" cy="45262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45936" y="1673352"/>
            <a:ext cx="2212848" cy="4197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107A57"/>
                </a:solidFill>
                <a:latin typeface="Segoe UI"/>
              </a:defRPr>
            </a:pPr>
            <a:r>
              <a:t>SERVICE ENGINE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BillingEngine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Pulse ceiling, free-minute quota deduction, GST, late fees.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CallService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Prefix auto-detection regex (+/00 -&gt; ISD, 0 -&gt; STD, +91 -&gt; Local).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PdfInvoiceService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Vector PDF generation with OpenPDF &amp; itemized CDR tables.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AuthService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SHA-256 password hashing with salt and Role-Based Access Control.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508760"/>
            <a:ext cx="2542032" cy="45262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070848" y="1673352"/>
            <a:ext cx="2212848" cy="4197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B45309"/>
                </a:solidFill>
                <a:latin typeface="Segoe UI"/>
              </a:defRPr>
            </a:pPr>
            <a:r>
              <a:t>DATA &amp; PERSISTENCE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SQLite 3 (JDBC)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Serverless zero-config relational database stored locally in telecom.db.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DatabaseManager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Automated DDL execution (schema.sql) and initial seed data loading.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Entity DAOs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CustomerDAO, BillDAO, CallRecordDAO, TariffPlanDAO, PaymentDAO.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Data Integrity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Foreign key constraints, cascading checks, and transaction safety.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3 of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TECHNOLOGY MATRIX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Enterprise Technology Stack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Robust industrial libraries chosen for performance, standards compliance, and zero deployment friction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456432" cy="212140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32688" y="1673352"/>
            <a:ext cx="3054096" cy="17922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D4ED8"/>
                </a:solidFill>
                <a:latin typeface="Segoe UI"/>
              </a:defRPr>
            </a:pPr>
            <a:r>
              <a:t>CORE RUNTIME</a:t>
            </a:r>
          </a:p>
          <a:p>
            <a:pPr>
              <a:spcAft>
                <a:spcPts val="400"/>
              </a:spcAft>
              <a:defRPr sz="1350" b="1">
                <a:solidFill>
                  <a:srgbClr val="0F172A"/>
                </a:solidFill>
                <a:latin typeface="Segoe UI"/>
              </a:defRPr>
            </a:pPr>
            <a:r>
              <a:t>Java 21 (LTS)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Latest Long-Term Support release offering enhanced pattern matching, record types, virtual threads readiness, and superior enterprise stability.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508760"/>
            <a:ext cx="3456432" cy="212140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0" y="1673352"/>
            <a:ext cx="3054096" cy="17922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0E7490"/>
                </a:solidFill>
                <a:latin typeface="Segoe UI"/>
              </a:defRPr>
            </a:pPr>
            <a:r>
              <a:t>DESKTOP GUI</a:t>
            </a:r>
          </a:p>
          <a:p>
            <a:pPr>
              <a:spcAft>
                <a:spcPts val="400"/>
              </a:spcAft>
              <a:defRPr sz="1350" b="1">
                <a:solidFill>
                  <a:srgbClr val="0F172A"/>
                </a:solidFill>
                <a:latin typeface="Segoe UI"/>
              </a:defRPr>
            </a:pPr>
            <a:r>
              <a:t>JavaFX 21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Modern GUI framework utilizing FXML separation of design and logic, CSS3 skinning, smooth hardware-accelerated animations, and responsive scene graphs.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508760"/>
            <a:ext cx="3456432" cy="212140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11312" y="1673352"/>
            <a:ext cx="3054096" cy="17922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07A57"/>
                </a:solidFill>
                <a:latin typeface="Segoe UI"/>
              </a:defRPr>
            </a:pPr>
            <a:r>
              <a:t>RELATIONAL DATABASE</a:t>
            </a:r>
          </a:p>
          <a:p>
            <a:pPr>
              <a:spcAft>
                <a:spcPts val="400"/>
              </a:spcAft>
              <a:defRPr sz="1350" b="1">
                <a:solidFill>
                  <a:srgbClr val="0F172A"/>
                </a:solidFill>
                <a:latin typeface="Segoe UI"/>
              </a:defRPr>
            </a:pPr>
            <a:r>
              <a:t>SQLite 3 via JDBC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Serverless, zero-configuration local database engine. Eliminates external DBMS setup while maintaining full ACID compliance and relational integrity.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13048"/>
            <a:ext cx="3456432" cy="212140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3977640"/>
            <a:ext cx="3054096" cy="17922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B45309"/>
                </a:solidFill>
                <a:latin typeface="Segoe UI"/>
              </a:defRPr>
            </a:pPr>
            <a:r>
              <a:t>INVOICE PDF ENGINE</a:t>
            </a:r>
          </a:p>
          <a:p>
            <a:pPr>
              <a:spcAft>
                <a:spcPts val="400"/>
              </a:spcAft>
              <a:defRPr sz="1350" b="1">
                <a:solidFill>
                  <a:srgbClr val="0F172A"/>
                </a:solidFill>
                <a:latin typeface="Segoe UI"/>
              </a:defRPr>
            </a:pPr>
            <a:r>
              <a:t>OpenPDF 1.3.40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LGPL/MPL compliant vector PDF library generating authentic pixel-perfect billing statements with dynamic tables, borders, and status watermarks.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3813048"/>
            <a:ext cx="3456432" cy="212140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3977640"/>
            <a:ext cx="3054096" cy="17922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D4ED8"/>
                </a:solidFill>
                <a:latin typeface="Segoe UI"/>
              </a:defRPr>
            </a:pPr>
            <a:r>
              <a:t>BUILD &amp; DEPENDENCY</a:t>
            </a:r>
          </a:p>
          <a:p>
            <a:pPr>
              <a:spcAft>
                <a:spcPts val="400"/>
              </a:spcAft>
              <a:defRPr sz="1350" b="1">
                <a:solidFill>
                  <a:srgbClr val="0F172A"/>
                </a:solidFill>
                <a:latin typeface="Segoe UI"/>
              </a:defRPr>
            </a:pPr>
            <a:r>
              <a:t>Apache Maven 3.9+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Standardized project lifecycle management, automated compilation, dependency management, and reproducible packaging into standalone executable JARs.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3813048"/>
            <a:ext cx="3456432" cy="212140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11312" y="3977640"/>
            <a:ext cx="3054096" cy="17922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07A57"/>
                </a:solidFill>
                <a:latin typeface="Segoe UI"/>
              </a:defRPr>
            </a:pPr>
            <a:r>
              <a:t>WEB DEPLOYMENT</a:t>
            </a:r>
          </a:p>
          <a:p>
            <a:pPr>
              <a:spcAft>
                <a:spcPts val="400"/>
              </a:spcAft>
              <a:defRPr sz="1350" b="1">
                <a:solidFill>
                  <a:srgbClr val="0F172A"/>
                </a:solidFill>
                <a:latin typeface="Segoe UI"/>
              </a:defRPr>
            </a:pPr>
            <a:r>
              <a:t>Vercel Cloud &amp; JS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Hoisted on Vercel's global edge network. Single Page Application (SPA) with Chart.js analytics, html2pdf export, and mobile responsiveness.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4 of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SYSTEM SHOWCASE — MODULE 1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Executive Operational Dashboard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Real-time visibility into billing revenues, subscriber provisioning, and telecom traffic volume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4937760" cy="45262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1748" y="2501042"/>
            <a:ext cx="4480560" cy="4197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D4ED8"/>
                </a:solidFill>
                <a:latin typeface="Segoe UI"/>
              </a:defRPr>
            </a:pPr>
            <a:r>
              <a:rPr dirty="0"/>
              <a:t>•  Executive KPI Summary Cards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rPr dirty="0"/>
              <a:t>   Live aggregates displaying Monthly Invoiced Revenue (₹995.45), Active Billable Subscribers (5 Lines), Overdue Invoices (1 Invoice), and Total Usage (107 Mins).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rPr dirty="0"/>
              <a:t>•  Monthly Billing Trend (Bar Chart)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rPr dirty="0"/>
              <a:t>   Tracks 6-month historical billing collections from March to August 2026, visualizing revenue seasonality and growth.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rPr dirty="0"/>
              <a:t>•  Tariff Plan Distribution (Doughnut)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rPr dirty="0"/>
              <a:t>   Visual breakdown of subscribers enrolled across Prepaid Starter, Postpaid Silver, Gold Unlimited, and Enterprise tiers.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rPr dirty="0"/>
              <a:t>•  College Viva Quick Controls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rPr dirty="0"/>
              <a:t>   Instant action bar allowing single-click bill generation, call logging, and subscriber registration during presentations.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25312" y="1508760"/>
            <a:ext cx="5532120" cy="4526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888" y="1691640"/>
            <a:ext cx="4614967" cy="3566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22492" y="5486399"/>
            <a:ext cx="49377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900" b="1">
                <a:solidFill>
                  <a:srgbClr val="64748B"/>
                </a:solidFill>
                <a:latin typeface="Segoe UI"/>
              </a:defRPr>
            </a:pPr>
            <a:r>
              <a:t>📷 Live Screen: Apex Telecom Operational Dashboard with Live Charts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5 of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SYSTEM SHOWCASE — MODULE 2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Call Detail Records (CDR) &amp; Prefix Engine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Itemized telephone traffic logging with automatic prefix recognition and pulse duration rounding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4937760" cy="45262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1748" y="2653021"/>
            <a:ext cx="4480560" cy="4197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D4ED8"/>
                </a:solidFill>
                <a:latin typeface="Segoe UI"/>
              </a:defRPr>
            </a:pPr>
            <a:r>
              <a:t>•  Intelligent Prefix Auto-Detection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   Evaluates dialed numbers dynamically: '+' or '00' (excluding +91) maps to ISD; '0' trunk codes (022, 080) map to STD; +91/10-digits map to Local.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t>•  Real-Time Tariff Cost Estimation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   As the operator inputs the duration, the system automatically computes and previews the estimated call charge before saving.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t>•  Color-Coded Classification Badges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   Distinctive visual tags (Blue for LOCAL, Indigo for STD, Purple for ISD) ensure clear distinction across large log volumes.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t>•  Bulk CSV Import Facility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   Allows batch ingestion of CDR records from telecom switch logs (timestamp, destination, duration) directly into SQLite.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25312" y="1508760"/>
            <a:ext cx="5532120" cy="4526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a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888" y="1691640"/>
            <a:ext cx="4614967" cy="3566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22492" y="5486399"/>
            <a:ext cx="49377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900" b="1">
                <a:solidFill>
                  <a:srgbClr val="64748B"/>
                </a:solidFill>
                <a:latin typeface="Segoe UI"/>
              </a:defRPr>
            </a:pPr>
            <a:r>
              <a:t>📷 Live Screen: CDR Call Logger with Real-Time Classification Pills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6317243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6 of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CORE BUSINESS LOGIC — MODULE 3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Automated Telecom Billing Engine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Algorithmic implementation of telecom rating standards, free quota deduction, and statutory taxes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4937760" cy="45262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501041"/>
            <a:ext cx="4480560" cy="4197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D4ED8"/>
                </a:solidFill>
                <a:latin typeface="Segoe UI"/>
              </a:defRPr>
            </a:pPr>
            <a:r>
              <a:rPr dirty="0"/>
              <a:t>•  60-Second Pulse Ceiling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rPr dirty="0"/>
              <a:t>   Standard telecom pulse rule: </a:t>
            </a:r>
            <a:r>
              <a:rPr dirty="0" err="1"/>
              <a:t>Math.ceil</a:t>
            </a:r>
            <a:r>
              <a:rPr dirty="0"/>
              <a:t>(</a:t>
            </a:r>
            <a:r>
              <a:rPr dirty="0" err="1"/>
              <a:t>durationSeconds</a:t>
            </a:r>
            <a:r>
              <a:rPr dirty="0"/>
              <a:t> / 60.0). Even a 65-second call is billed as 2 whole minutes.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rPr dirty="0"/>
              <a:t>•  Free Minutes Priority Deduction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rPr dirty="0"/>
              <a:t>   Monthly free minutes quota (e.g. 150 mins) is deducted against local call minutes first; only excess usage is billed at plan rates.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rPr dirty="0"/>
              <a:t>•  Taxable Value Subtotal Calculation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rPr dirty="0"/>
              <a:t>   Subtotal = (Billable Local Mins × Rate) + (STD Mins × Rate) + (ISD Mins × Rate) + Fixed Monthly Rental.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rPr dirty="0"/>
              <a:t>•  Statutory GST &amp; Adjustments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rPr dirty="0"/>
              <a:t>   Applies 18% GST (CGST 9% + SGST 9%) on the taxable value, incorporates ₹50 late surcharge for overdue accounts, and deducts promotional discounts.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25312" y="1508760"/>
            <a:ext cx="5532120" cy="4526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888" y="1691640"/>
            <a:ext cx="4614967" cy="3566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22492" y="5486399"/>
            <a:ext cx="49377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900" b="1">
                <a:solidFill>
                  <a:srgbClr val="64748B"/>
                </a:solidFill>
                <a:latin typeface="Segoe UI"/>
              </a:defRPr>
            </a:pPr>
            <a:r>
              <a:t>📷 Live Screen: Financial Analytics &amp; Top Calling Subscribers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7 of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SYSTEM CENTERPIECE — MODULE 4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Airtel / Jio Styled Tax Invoice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Authentic telecom billing statement layout complying with Indian TRAI regulations and tax formatting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4937760" cy="45262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78992" y="2582077"/>
            <a:ext cx="4480560" cy="4197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D4ED8"/>
                </a:solidFill>
                <a:latin typeface="Segoe UI"/>
              </a:defRPr>
            </a:pPr>
            <a:r>
              <a:rPr dirty="0"/>
              <a:t>•  Authentic Telecom Layout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rPr dirty="0"/>
              <a:t>   Features corporate Telco branding, GSTIN (27AAACA1234F1Z5), DOT license numbers, toll-free customer care details, and Net-15 payment terms.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rPr dirty="0"/>
              <a:t>•  Itemized Summary of Charges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rPr dirty="0"/>
              <a:t>   Tabular breakdown of Monthly Rental, CDR itemized pulse charges, Taxable Subtotal, CGST 9%, SGST 9%, Late Surcharge, and Total Payable.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rPr dirty="0"/>
              <a:t>•  Itemized CDR Table Inclusion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rPr dirty="0"/>
              <a:t>   Comprehensive list of every call made during the billing cycle (timestamp, dialed destination, classification, duration, and individual charge).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rPr dirty="0"/>
              <a:t>•  Dual Export (</a:t>
            </a:r>
            <a:r>
              <a:rPr dirty="0" err="1"/>
              <a:t>OpenPDF</a:t>
            </a:r>
            <a:r>
              <a:rPr dirty="0"/>
              <a:t> &amp; In-Browser)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rPr dirty="0"/>
              <a:t>   Direct vector PDF invoice download via </a:t>
            </a:r>
            <a:r>
              <a:rPr dirty="0" err="1"/>
              <a:t>OpenPDF</a:t>
            </a:r>
            <a:r>
              <a:rPr dirty="0"/>
              <a:t> on Desktop and html2pdf on Web, plus in-browser printing with dynamic status stamps (PAID/UNPAID/OVERDUE).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25312" y="1508760"/>
            <a:ext cx="5532120" cy="4526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n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888" y="1691640"/>
            <a:ext cx="4614967" cy="3566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22492" y="5486399"/>
            <a:ext cx="49377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900" b="1">
                <a:solidFill>
                  <a:srgbClr val="64748B"/>
                </a:solidFill>
                <a:latin typeface="Segoe UI"/>
              </a:defRPr>
            </a:pPr>
            <a:r>
              <a:t>📷 Live Screen: Authentic Airtel/Jio Styled Tax Invoice Modal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8 of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SYSTEM SHOWCASE — MODULE 5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Subscriber KYC &amp; Tariff Plan Management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End-to-end subscriber provisioning and dynamic calling package configuration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4937760" cy="45262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660904"/>
            <a:ext cx="4480560" cy="4197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D4ED8"/>
                </a:solidFill>
                <a:latin typeface="Segoe UI"/>
              </a:defRPr>
            </a:pPr>
            <a:r>
              <a:t>•  Comprehensive KYC &amp; Line Directory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   Captures full name, verified phone number, email address, physical billing address, connection date, assigned plan, and line status.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t>•  Subscriber Status Lifecycle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   Manages state transitions between ACTIVE (billable), SUSPENDED (overdue/non-payment), and INACTIVE lines with visual color pills.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t>•  Dynamic Tariff Plan Customizer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   Configure multi-tier calling plans: Prepaid Starter (₹99), Postpaid Silver (₹249), Postpaid Gold Unlimited (₹499), Corporate Enterprise (₹899).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t>•  Pulse Rate &amp; Free Quota Matrix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   Customizable parameters per plan: Local/STD/ISD pulse rates, free monthly talk time, SMS rates, and data bundle charges.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25312" y="1508760"/>
            <a:ext cx="5532120" cy="4526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pl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888" y="1691640"/>
            <a:ext cx="4614967" cy="3566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22492" y="5486399"/>
            <a:ext cx="49377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900" b="1">
                <a:solidFill>
                  <a:srgbClr val="64748B"/>
                </a:solidFill>
                <a:latin typeface="Segoe UI"/>
              </a:defRPr>
            </a:pPr>
            <a:r>
              <a:t>📷 Live Screen: Tariff Plans &amp; Calling Package Tier Cards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9 of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SYSTEM SHOWCASE — MODULE 6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Financial Analytics &amp; Top Callers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Executive telecom intelligence with revenue collection metrics and caller rankings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4937760" cy="45262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1748" y="2524690"/>
            <a:ext cx="4480560" cy="4197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D4ED8"/>
                </a:solidFill>
                <a:latin typeface="Segoe UI"/>
              </a:defRPr>
            </a:pPr>
            <a:r>
              <a:rPr dirty="0"/>
              <a:t>•  Financial Health Summary Cards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rPr dirty="0"/>
              <a:t>   Instant reporting of Cumulative Invoiced Volume (₹1,215.37), Total Settled Collections (₹366.63), and Outstanding Receivables (₹848.74).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rPr dirty="0"/>
              <a:t>•  Top Calling Subscribers Leaderboard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rPr dirty="0"/>
              <a:t>   Ranks subscribers by total CDR talk time and calls count with 🥇 1st (Sneha Reddy), 🥈 2nd (Priya Patel), 🥉 3rd (Rajesh Sharma) medals.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rPr dirty="0"/>
              <a:t>•  Revenue Leakage Prevention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rPr dirty="0"/>
              <a:t>   Enables telecom managers to rapidly identify delinquent accounts, overdue payment windows, and initiate automated late fees.</a:t>
            </a:r>
          </a:p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rPr dirty="0"/>
              <a:t>•  Spreadsheet CSV Exporting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rPr dirty="0"/>
              <a:t>   One-click export of financial reports and subscriber traffic tables to CSV for external auditing, accounting, and presentation review.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25312" y="1508760"/>
            <a:ext cx="5532120" cy="4526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ustom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888" y="1691640"/>
            <a:ext cx="4614967" cy="3566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22492" y="5486399"/>
            <a:ext cx="49377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900" b="1">
                <a:solidFill>
                  <a:srgbClr val="64748B"/>
                </a:solidFill>
                <a:latin typeface="Segoe UI"/>
              </a:defRPr>
            </a:pPr>
            <a:r>
              <a:t>📷 Live Screen: Subscriber KYC Directory &amp; Provisioning Table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10 of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VERIFICATION &amp; TESTING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Automated Testing &amp; Quality Assurance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10/10 automated JUnit 5 test cases passing with 100% build success across all modules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429000" cy="45262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6112" y="1655064"/>
            <a:ext cx="3099816" cy="4233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D4ED8"/>
                </a:solidFill>
                <a:latin typeface="Segoe UI"/>
              </a:defRPr>
            </a:pPr>
            <a:r>
              <a:t>✓ BillingEngineTest (5/5 Passing)</a:t>
            </a:r>
          </a:p>
          <a:p>
            <a:pPr>
              <a:defRPr sz="950" b="1">
                <a:solidFill>
                  <a:srgbClr val="0F172A"/>
                </a:solidFill>
                <a:latin typeface="Consolas"/>
              </a:defRPr>
            </a:pPr>
            <a:r>
              <a:t>• testUnderFreeMinutesAllowance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Segoe UI"/>
              </a:defRPr>
            </a:pPr>
            <a:r>
              <a:t>Verifies 80 mins &lt;= 100 free mins results in ₹0.00 call charge; only rental ₹200 + 18% GST (₹236.00) is billed.</a:t>
            </a:r>
          </a:p>
          <a:p>
            <a:pPr>
              <a:defRPr sz="950" b="1">
                <a:solidFill>
                  <a:srgbClr val="0F172A"/>
                </a:solidFill>
                <a:latin typeface="Consolas"/>
              </a:defRPr>
            </a:pPr>
            <a:r>
              <a:t>• testExceedingFreeMinutesAllowance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Segoe UI"/>
              </a:defRPr>
            </a:pPr>
            <a:r>
              <a:t>Verifies 120 mins local call correctly consumes 100 free mins and bills only the remaining 20 excess minutes.</a:t>
            </a:r>
          </a:p>
          <a:p>
            <a:pPr>
              <a:defRPr sz="950" b="1">
                <a:solidFill>
                  <a:srgbClr val="0F172A"/>
                </a:solidFill>
                <a:latin typeface="Consolas"/>
              </a:defRPr>
            </a:pPr>
            <a:r>
              <a:t>• testMixedCallCategories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Segoe UI"/>
              </a:defRPr>
            </a:pPr>
            <a:r>
              <a:t>Validates simultaneous Local, STD, and ISD calls with duration ceiling and appropriate tariff application.</a:t>
            </a:r>
          </a:p>
          <a:p>
            <a:pPr>
              <a:defRPr sz="950" b="1">
                <a:solidFill>
                  <a:srgbClr val="0F172A"/>
                </a:solidFill>
                <a:latin typeface="Consolas"/>
              </a:defRPr>
            </a:pPr>
            <a:r>
              <a:t>• testDiscountAndLateFee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Segoe UI"/>
              </a:defRPr>
            </a:pPr>
            <a:r>
              <a:t>Ensures late fee additions (+₹50) and promotional credit subtractions calculate accurate net payable sums.</a:t>
            </a:r>
          </a:p>
          <a:p>
            <a:pPr>
              <a:defRPr sz="950" b="1">
                <a:solidFill>
                  <a:srgbClr val="0F172A"/>
                </a:solidFill>
                <a:latin typeface="Consolas"/>
              </a:defRPr>
            </a:pPr>
            <a:r>
              <a:t>• testZeroCalls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Segoe UI"/>
              </a:defRPr>
            </a:pPr>
            <a:r>
              <a:t>Verifies that zero telecom usage accurately bills only fixed monthly rental plus statutory GST.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508760"/>
            <a:ext cx="3429000" cy="45262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07992" y="1655064"/>
            <a:ext cx="3099816" cy="4233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7A57"/>
                </a:solidFill>
                <a:latin typeface="Segoe UI"/>
              </a:defRPr>
            </a:pPr>
            <a:r>
              <a:t>✓ CallServiceTest (4/4 Passing)</a:t>
            </a:r>
          </a:p>
          <a:p>
            <a:pPr>
              <a:defRPr sz="950" b="1">
                <a:solidFill>
                  <a:srgbClr val="0F172A"/>
                </a:solidFill>
                <a:latin typeface="Consolas"/>
              </a:defRPr>
            </a:pPr>
            <a:r>
              <a:t>• testIsdDetection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Segoe UI"/>
              </a:defRPr>
            </a:pPr>
            <a:r>
              <a:t>Confirms prefixes +1, +44, and 001 are classified as ISD (International) calls.</a:t>
            </a:r>
          </a:p>
          <a:p>
            <a:pPr>
              <a:defRPr sz="950" b="1">
                <a:solidFill>
                  <a:srgbClr val="0F172A"/>
                </a:solidFill>
                <a:latin typeface="Consolas"/>
              </a:defRPr>
            </a:pPr>
            <a:r>
              <a:t>• testStdDetection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Segoe UI"/>
              </a:defRPr>
            </a:pPr>
            <a:r>
              <a:t>Confirms national area trunk codes (022, 080, 011) are accurately categorized as STD calls.</a:t>
            </a:r>
          </a:p>
          <a:p>
            <a:pPr>
              <a:defRPr sz="950" b="1">
                <a:solidFill>
                  <a:srgbClr val="0F172A"/>
                </a:solidFill>
                <a:latin typeface="Consolas"/>
              </a:defRPr>
            </a:pPr>
            <a:r>
              <a:t>• testLocalDetection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Segoe UI"/>
              </a:defRPr>
            </a:pPr>
            <a:r>
              <a:t>Verifies +91 prefix and standard 10-digit mobile numbers are identified as Local calls.</a:t>
            </a:r>
          </a:p>
          <a:p>
            <a:pPr>
              <a:defRPr sz="950" b="1">
                <a:solidFill>
                  <a:srgbClr val="0F172A"/>
                </a:solidFill>
                <a:latin typeface="Consolas"/>
              </a:defRPr>
            </a:pPr>
            <a:r>
              <a:t>• testPhoneValidation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Segoe UI"/>
              </a:defRPr>
            </a:pPr>
            <a:r>
              <a:t>Validates input sanitization against invalid characters, excessive lengths, or malformed strings.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508760"/>
            <a:ext cx="3429000" cy="45262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19872" y="1655064"/>
            <a:ext cx="3099816" cy="4233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B45309"/>
                </a:solidFill>
                <a:latin typeface="Segoe UI"/>
              </a:defRPr>
            </a:pPr>
            <a:r>
              <a:t>✓ Database &amp; PDF Integration (1/1 Passing)</a:t>
            </a:r>
          </a:p>
          <a:p>
            <a:pPr>
              <a:defRPr sz="950" b="1">
                <a:solidFill>
                  <a:srgbClr val="0F172A"/>
                </a:solidFill>
                <a:latin typeface="Consolas"/>
              </a:defRPr>
            </a:pPr>
            <a:r>
              <a:t>• testDatabaseAndPdfIntegration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Segoe UI"/>
              </a:defRPr>
            </a:pPr>
            <a:r>
              <a:t>Auto-bootstraps SQLite schema, populates 6 customers, and validates creation of non-empty OpenPDF vector invoice file (&gt;2KB).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11 of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HOSTING &amp; ACCESSIBILITY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Multi-Platform Deployment &amp; Distribution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Instant accessibility across desktop operating systems and worldwide cloud web browsers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429000" cy="45262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6112" y="1655064"/>
            <a:ext cx="3099816" cy="4233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7A57"/>
                </a:solidFill>
                <a:latin typeface="Segoe UI"/>
              </a:defRPr>
            </a:pPr>
            <a:r>
              <a:t>Cloud Web Deployment (Vercel)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Live Production URL: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Segoe UI"/>
              </a:defRPr>
            </a:pPr>
            <a:r>
              <a:t>https://apex-telecom-billing-gurramashlesh-8133s-projects.vercel.app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Global Edge Hosting: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Segoe UI"/>
              </a:defRPr>
            </a:pPr>
            <a:r>
              <a:t>Deployed on Vercel Serverless CDN with zero latency and automatic HTTPS SSL security.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Full Feature Parity: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Segoe UI"/>
              </a:defRPr>
            </a:pPr>
            <a:r>
              <a:t>Replicates Java billing engine, interactive Chart.js graphs, prefix classifier, and in-browser PDF generator.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Zero-Install Evaluation: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Segoe UI"/>
              </a:defRPr>
            </a:pPr>
            <a:r>
              <a:t>Allows external evaluators and professors to test the system directly from any laptop, tablet, or smartphone.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508760"/>
            <a:ext cx="3429000" cy="45262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07992" y="1655064"/>
            <a:ext cx="3099816" cy="4233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D4ED8"/>
                </a:solidFill>
                <a:latin typeface="Segoe UI"/>
              </a:defRPr>
            </a:pPr>
            <a:r>
              <a:t>Public GitHub Repository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Repository Link: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Segoe UI"/>
              </a:defRPr>
            </a:pPr>
            <a:r>
              <a:t>https://github.com/ashlesh0805/TelephoneBillManagementSystem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Clean Commit History: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Segoe UI"/>
              </a:defRPr>
            </a:pPr>
            <a:r>
              <a:t>Version-controlled with sanitized configuration and complete automated build scripts.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Documentation &amp; Badges: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Segoe UI"/>
              </a:defRPr>
            </a:pPr>
            <a:r>
              <a:t>Comprehensive README with architecture diagrams, setup instructions, and college viva Q&amp;A.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Open Source Standards: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Segoe UI"/>
              </a:defRPr>
            </a:pPr>
            <a:r>
              <a:t>Structured Maven pom.xml with clear directory segregation for models, DAOs, controllers, and services.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508760"/>
            <a:ext cx="3429000" cy="45262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19872" y="1655064"/>
            <a:ext cx="3099816" cy="4233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B45309"/>
                </a:solidFill>
                <a:latin typeface="Segoe UI"/>
              </a:defRPr>
            </a:pPr>
            <a:r>
              <a:t>Offline Desktop Package (ZIP)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Portable Archive: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Segoe UI"/>
              </a:defRPr>
            </a:pPr>
            <a:r>
              <a:t>Telephone-Bill-Management-System.zip (~400 KB compact archive).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One-Click Windows Launcher: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Segoe UI"/>
              </a:defRPr>
            </a:pPr>
            <a:r>
              <a:t>Includes run.bat with automated environment detection and dependency resolution.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Local SQLite Persistence: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Segoe UI"/>
              </a:defRPr>
            </a:pPr>
            <a:r>
              <a:t>Preloaded with sample telecom data; zero database server configuration required.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Standalone Executable JAR: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Segoe UI"/>
              </a:defRPr>
            </a:pPr>
            <a:r>
              <a:t>Packaged target/telephone-bill-system-1.0.0.jar ready for classroom projector demonstration.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12 of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D4ED8"/>
                </a:solidFill>
                <a:latin typeface="Segoe UI"/>
              </a:defRPr>
            </a:pPr>
            <a:r>
              <a:t>CONCLUSION &amp; ROADMAP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Project Outcomes &amp; Future Scope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Reflections on project milestones and future directions for telecommunication infrastructure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5212080" cy="280515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673352"/>
            <a:ext cx="4754880" cy="4197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07A57"/>
                </a:solidFill>
                <a:latin typeface="Segoe UI"/>
              </a:defRPr>
            </a:pPr>
            <a:r>
              <a:t>🏆 Key Milestones Achieved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✓  Production-Grade Java Desktop System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    Fully working Java 21 / JavaFX desktop software following rigorous MVC separation, equipped with dark/light themes and SQLite persistence.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✓  100% Automated Test Coverage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    All 10 unit and integration tests successfully verified billing accuracy, free minute deductions, and database auto-bootstrapping.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✓  Airtel/Jio Styled Vector Invoicing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    Complete professional billing statement compliant with TRAI and Indian GST guidelines with instant PDF export.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✓  Public Web Deployment on Vercel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    Zero-friction cloud hosting allowing anyone to interact with the billing suite on any device worldwide.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508760"/>
            <a:ext cx="5212080" cy="280515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73952" y="1673352"/>
            <a:ext cx="47548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D4ED8"/>
                </a:solidFill>
                <a:latin typeface="Segoe UI"/>
              </a:defRPr>
            </a:pPr>
            <a:r>
              <a:t>🚀 Future Enhancement Roadmap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➔  Online Payment Gateway Integration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    Direct integration with Razorpay / Stripe webhooks for instant automated invoice settlement without manual intervention.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➔  5G VoNR &amp; Data Usage Meters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    Expanding the billing engine to rate dynamic packet data consumption and high-bandwidth 5G slicing tiers.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➔  Automated SMS &amp; Email Dispatch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    Integrating Twilio / SendGrid APIs to dispatch itemized PDF invoices and payment reminder notifications automatically.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➔  Customer Self-Service Mobile App</a:t>
            </a:r>
          </a:p>
          <a:p>
            <a:pPr>
              <a:spcAft>
                <a:spcPts val="5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    Extending the backend APIs to power Flutter / React Native Android &amp; iOS mobile applications for subscribers.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68909" y="4661390"/>
            <a:ext cx="6254181" cy="10515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1100" b="1">
                <a:solidFill>
                  <a:srgbClr val="1D4ED8"/>
                </a:solidFill>
                <a:latin typeface="Segoe UI"/>
              </a:defRPr>
            </a:pPr>
            <a:r>
              <a:rPr dirty="0"/>
              <a:t>🎉 Thank You! Questions &amp; Discussion Welcome.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13 of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2652</Words>
  <Application>Microsoft Office PowerPoint</Application>
  <PresentationFormat>Widescreen</PresentationFormat>
  <Paragraphs>273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ashlesh gurram</cp:lastModifiedBy>
  <cp:revision>2</cp:revision>
  <dcterms:created xsi:type="dcterms:W3CDTF">2013-01-27T09:14:16Z</dcterms:created>
  <dcterms:modified xsi:type="dcterms:W3CDTF">2026-09-14T17:46:56Z</dcterms:modified>
  <cp:category/>
</cp:coreProperties>
</file>